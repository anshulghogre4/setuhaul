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19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19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19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19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59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59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24159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59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2144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2144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2144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2144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331720"/>
            <a:ext cx="82296" cy="1417320"/>
          </a:xfrm>
          <a:prstGeom prst="rect">
            <a:avLst/>
          </a:prstGeom>
          <a:solidFill>
            <a:srgbClr val="4ED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2860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300" b="1">
                <a:solidFill>
                  <a:srgbClr val="4EDEA3"/>
                </a:solidFill>
                <a:latin typeface="Segoe UI"/>
              </a:rPr>
              <a:t>ENGINEERING BRIEFING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26060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6400" b="1">
                <a:solidFill>
                  <a:srgbClr val="DAE2FD"/>
                </a:solidFill>
                <a:latin typeface="Segoe UI Semibold"/>
              </a:rPr>
              <a:t>SetuHaul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61188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700" b="0">
                <a:solidFill>
                  <a:srgbClr val="C3C6D7"/>
                </a:solidFill>
                <a:latin typeface="Segoe UI"/>
              </a:rPr>
              <a:t>AI-assisted dock scheduling — stack, tools, scheduling flow, and how we watch it run.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34340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B4C5FF"/>
                </a:solidFill>
                <a:latin typeface="Segoe UI"/>
              </a:rPr>
              <a:t>React 19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93976" y="4343400"/>
            <a:ext cx="1046988" cy="384048"/>
          </a:xfrm>
          <a:prstGeom prst="roundRect">
            <a:avLst>
              <a:gd name="adj" fmla="val 50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B4C5FF"/>
                </a:solidFill>
                <a:latin typeface="Segoe UI"/>
              </a:rPr>
              <a:t>FastAPI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05556" y="4343400"/>
            <a:ext cx="1046988" cy="384048"/>
          </a:xfrm>
          <a:prstGeom prst="roundRect">
            <a:avLst>
              <a:gd name="adj" fmla="val 50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B4C5FF"/>
                </a:solidFill>
                <a:latin typeface="Segoe UI"/>
              </a:rPr>
              <a:t>AWS ECS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17136" y="434340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B4C5FF"/>
                </a:solidFill>
                <a:latin typeface="Segoe UI"/>
              </a:rPr>
              <a:t>Supabase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855464"/>
            <a:ext cx="1677924" cy="384048"/>
          </a:xfrm>
          <a:prstGeom prst="roundRect">
            <a:avLst>
              <a:gd name="adj" fmla="val 50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B4C5FF"/>
                </a:solidFill>
                <a:latin typeface="Segoe UI"/>
              </a:rPr>
              <a:t>Upstash Redis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19756" y="4855464"/>
            <a:ext cx="1257300" cy="384048"/>
          </a:xfrm>
          <a:prstGeom prst="roundRect">
            <a:avLst>
              <a:gd name="adj" fmla="val 50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B4C5FF"/>
                </a:solidFill>
                <a:latin typeface="Segoe UI"/>
              </a:rPr>
              <a:t>LangChain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41648" y="4855464"/>
            <a:ext cx="1677924" cy="384048"/>
          </a:xfrm>
          <a:prstGeom prst="roundRect">
            <a:avLst>
              <a:gd name="adj" fmla="val 50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B4C5FF"/>
                </a:solidFill>
                <a:latin typeface="Segoe UI"/>
              </a:rPr>
              <a:t>AWS AgentCore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84164" y="4855464"/>
            <a:ext cx="1257300" cy="384048"/>
          </a:xfrm>
          <a:prstGeom prst="roundRect">
            <a:avLst>
              <a:gd name="adj" fmla="val 50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B4C5FF"/>
                </a:solidFill>
                <a:latin typeface="Segoe UI"/>
              </a:rPr>
              <a:t>LangSmith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900" b="1">
                <a:solidFill>
                  <a:srgbClr val="C3C6D7"/>
                </a:solidFill>
                <a:latin typeface="Segoe UI"/>
              </a:rPr>
              <a:t>SETUHAUL — SYSTEM OVERVIEW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"/>
              </a:spcAft>
            </a:pPr>
            <a:r>
              <a:rPr sz="900" b="0">
                <a:solidFill>
                  <a:srgbClr val="C3C6D7"/>
                </a:solidFill>
                <a:latin typeface="Segoe UI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19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19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19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19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59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59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24159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59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2144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2144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2144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2144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150" b="1">
                <a:solidFill>
                  <a:srgbClr val="4EDEA3"/>
                </a:solidFill>
                <a:latin typeface="Segoe UI"/>
              </a:rPr>
              <a:t>FOUNDATIONS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3000" b="1">
                <a:solidFill>
                  <a:srgbClr val="DAE2FD"/>
                </a:solidFill>
                <a:latin typeface="Segoe UI Semibold"/>
              </a:rPr>
              <a:t>Tech stack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1298448"/>
            <a:ext cx="11091672" cy="0"/>
          </a:xfrm>
          <a:prstGeom prst="line">
            <a:avLst/>
          </a:prstGeom>
          <a:ln w="12700">
            <a:solidFill>
              <a:srgbClr val="43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900" b="1">
                <a:solidFill>
                  <a:srgbClr val="C3C6D7"/>
                </a:solidFill>
                <a:latin typeface="Segoe UI"/>
              </a:rPr>
              <a:t>SETUHAUL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"/>
              </a:spcAft>
            </a:pPr>
            <a:r>
              <a:rPr sz="900" b="0">
                <a:solidFill>
                  <a:srgbClr val="C3C6D7"/>
                </a:solidFill>
                <a:latin typeface="Segoe UI"/>
              </a:rPr>
              <a:t>02 / 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1536192"/>
            <a:ext cx="11091672" cy="841248"/>
          </a:xfrm>
          <a:prstGeom prst="roundRect">
            <a:avLst>
              <a:gd name="adj" fmla="val 14000"/>
            </a:avLst>
          </a:prstGeom>
          <a:solidFill>
            <a:srgbClr val="171F33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1536192"/>
            <a:ext cx="63500" cy="841248"/>
          </a:xfrm>
          <a:prstGeom prst="roundRect">
            <a:avLst>
              <a:gd name="adj" fmla="val 50000"/>
            </a:avLst>
          </a:prstGeom>
          <a:solidFill>
            <a:srgbClr val="4ED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1645920"/>
            <a:ext cx="1965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"/>
              </a:spcAft>
            </a:pPr>
            <a:r>
              <a:rPr sz="1050" b="1">
                <a:solidFill>
                  <a:srgbClr val="C3C6D7"/>
                </a:solidFill>
                <a:latin typeface="Segoe UI"/>
              </a:rPr>
              <a:t>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1645920"/>
            <a:ext cx="3246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650" b="1">
                <a:solidFill>
                  <a:srgbClr val="DAE2FD"/>
                </a:solidFill>
                <a:latin typeface="Segoe UI Semibold"/>
              </a:rPr>
              <a:t>React 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1645920"/>
            <a:ext cx="5074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"/>
              </a:spcAft>
            </a:pPr>
            <a:r>
              <a:rPr sz="1150" b="0">
                <a:solidFill>
                  <a:srgbClr val="C3C6D7"/>
                </a:solidFill>
                <a:latin typeface="Segoe UI"/>
              </a:rPr>
              <a:t>Driver + ops chat UI, hosted on Vercel.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459736"/>
            <a:ext cx="11091672" cy="841248"/>
          </a:xfrm>
          <a:prstGeom prst="roundRect">
            <a:avLst>
              <a:gd name="adj" fmla="val 14000"/>
            </a:avLst>
          </a:prstGeom>
          <a:solidFill>
            <a:srgbClr val="171F33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459736"/>
            <a:ext cx="63500" cy="841248"/>
          </a:xfrm>
          <a:prstGeom prst="roundRect">
            <a:avLst>
              <a:gd name="adj" fmla="val 50000"/>
            </a:avLst>
          </a:prstGeom>
          <a:solidFill>
            <a:srgbClr val="B4C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2569464"/>
            <a:ext cx="1965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"/>
              </a:spcAft>
            </a:pPr>
            <a:r>
              <a:rPr sz="1050" b="1">
                <a:solidFill>
                  <a:srgbClr val="C3C6D7"/>
                </a:solidFill>
                <a:latin typeface="Segoe UI"/>
              </a:rPr>
              <a:t>BACKEND HOSTING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2569464"/>
            <a:ext cx="3246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650" b="1">
                <a:solidFill>
                  <a:srgbClr val="DAE2FD"/>
                </a:solidFill>
                <a:latin typeface="Segoe UI Semibold"/>
              </a:rPr>
              <a:t>AWS ECS (Express Mode)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2569464"/>
            <a:ext cx="5074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"/>
              </a:spcAft>
            </a:pPr>
            <a:r>
              <a:rPr sz="1150" b="0">
                <a:solidFill>
                  <a:srgbClr val="C3C6D7"/>
                </a:solidFill>
                <a:latin typeface="Segoe UI"/>
              </a:rPr>
              <a:t>FastAPI service runs as an ECR image on ECS; thin routers, logic in services/repositories.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383280"/>
            <a:ext cx="11091672" cy="841248"/>
          </a:xfrm>
          <a:prstGeom prst="roundRect">
            <a:avLst>
              <a:gd name="adj" fmla="val 14000"/>
            </a:avLst>
          </a:prstGeom>
          <a:solidFill>
            <a:srgbClr val="171F33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" y="3383280"/>
            <a:ext cx="63500" cy="841248"/>
          </a:xfrm>
          <a:prstGeom prst="roundRect">
            <a:avLst>
              <a:gd name="adj" fmla="val 50000"/>
            </a:avLst>
          </a:prstGeom>
          <a:solidFill>
            <a:srgbClr val="4ED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3493008"/>
            <a:ext cx="1965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"/>
              </a:spcAft>
            </a:pPr>
            <a:r>
              <a:rPr sz="1050" b="1">
                <a:solidFill>
                  <a:srgbClr val="C3C6D7"/>
                </a:solidFill>
                <a:latin typeface="Segoe UI"/>
              </a:rPr>
              <a:t>DATABASE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3493008"/>
            <a:ext cx="3246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650" b="1">
                <a:solidFill>
                  <a:srgbClr val="DAE2FD"/>
                </a:solidFill>
                <a:latin typeface="Segoe UI Semibold"/>
              </a:rPr>
              <a:t>Supabase (PostgreSQL)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3493008"/>
            <a:ext cx="5074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"/>
              </a:spcAft>
            </a:pPr>
            <a:r>
              <a:rPr sz="1150" b="0">
                <a:solidFill>
                  <a:srgbClr val="C3C6D7"/>
                </a:solidFill>
                <a:latin typeface="Segoe UI"/>
              </a:rPr>
              <a:t>Sole business source of truth — shipments, ETAs, appointments, docks. RLS-enforced.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306824"/>
            <a:ext cx="11091672" cy="841248"/>
          </a:xfrm>
          <a:prstGeom prst="roundRect">
            <a:avLst>
              <a:gd name="adj" fmla="val 14000"/>
            </a:avLst>
          </a:prstGeom>
          <a:solidFill>
            <a:srgbClr val="171F33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8640" y="4306824"/>
            <a:ext cx="63500" cy="841248"/>
          </a:xfrm>
          <a:prstGeom prst="roundRect">
            <a:avLst>
              <a:gd name="adj" fmla="val 50000"/>
            </a:avLst>
          </a:prstGeom>
          <a:solidFill>
            <a:srgbClr val="FFB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4416552"/>
            <a:ext cx="1965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"/>
              </a:spcAft>
            </a:pPr>
            <a:r>
              <a:rPr sz="1050" b="1">
                <a:solidFill>
                  <a:srgbClr val="C3C6D7"/>
                </a:solidFill>
                <a:latin typeface="Segoe UI"/>
              </a:rPr>
              <a:t>SESSION MEMORY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1800" y="4416552"/>
            <a:ext cx="3246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650" b="1">
                <a:solidFill>
                  <a:srgbClr val="DAE2FD"/>
                </a:solidFill>
                <a:latin typeface="Segoe UI Semibold"/>
              </a:rPr>
              <a:t>Upstash Redis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4416552"/>
            <a:ext cx="5074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"/>
              </a:spcAft>
            </a:pPr>
            <a:r>
              <a:rPr sz="1150" b="0">
                <a:solidFill>
                  <a:srgbClr val="C3C6D7"/>
                </a:solidFill>
                <a:latin typeface="Segoe UI"/>
              </a:rPr>
              <a:t>Bounded, non-authoritative chat/session context only. 24-hour TTL, never booking truth.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230368"/>
            <a:ext cx="11091672" cy="841248"/>
          </a:xfrm>
          <a:prstGeom prst="roundRect">
            <a:avLst>
              <a:gd name="adj" fmla="val 14000"/>
            </a:avLst>
          </a:prstGeom>
          <a:solidFill>
            <a:srgbClr val="171F33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48640" y="5230368"/>
            <a:ext cx="63500" cy="841248"/>
          </a:xfrm>
          <a:prstGeom prst="roundRect">
            <a:avLst>
              <a:gd name="adj" fmla="val 50000"/>
            </a:avLst>
          </a:prstGeom>
          <a:solidFill>
            <a:srgbClr val="B4C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5340096"/>
            <a:ext cx="1965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"/>
              </a:spcAft>
            </a:pPr>
            <a:r>
              <a:rPr sz="1050" b="1">
                <a:solidFill>
                  <a:srgbClr val="C3C6D7"/>
                </a:solidFill>
                <a:latin typeface="Segoe UI"/>
              </a:rPr>
              <a:t>LLM ORCHESTRATION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71800" y="5340096"/>
            <a:ext cx="3246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650" b="1">
                <a:solidFill>
                  <a:srgbClr val="DAE2FD"/>
                </a:solidFill>
                <a:latin typeface="Segoe UI Semibold"/>
              </a:rPr>
              <a:t>LangChain — no agent framework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5340096"/>
            <a:ext cx="50749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"/>
              </a:spcAft>
            </a:pPr>
            <a:r>
              <a:rPr sz="1150" b="0">
                <a:solidFill>
                  <a:srgbClr val="C3C6D7"/>
                </a:solidFill>
                <a:latin typeface="Segoe UI"/>
              </a:rPr>
              <a:t>ChatOpenAI + bind_tools inside a custom bounded loop. Not AgentExecutor / create_react_agent.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19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19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19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19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59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59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24159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59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2144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2144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2144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2144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150" b="1">
                <a:solidFill>
                  <a:srgbClr val="4EDEA3"/>
                </a:solidFill>
                <a:latin typeface="Segoe UI"/>
              </a:rPr>
              <a:t>LLM TOOL SURFACE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3000" b="1">
                <a:solidFill>
                  <a:srgbClr val="DAE2FD"/>
                </a:solidFill>
                <a:latin typeface="Segoe UI Semibold"/>
              </a:rPr>
              <a:t>Essential agent tools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1298448"/>
            <a:ext cx="11091672" cy="0"/>
          </a:xfrm>
          <a:prstGeom prst="line">
            <a:avLst/>
          </a:prstGeom>
          <a:ln w="12700">
            <a:solidFill>
              <a:srgbClr val="43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900" b="1">
                <a:solidFill>
                  <a:srgbClr val="C3C6D7"/>
                </a:solidFill>
                <a:latin typeface="Segoe UI"/>
              </a:rPr>
              <a:t>SETUHAUL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"/>
              </a:spcAft>
            </a:pPr>
            <a:r>
              <a:rPr sz="900" b="0">
                <a:solidFill>
                  <a:srgbClr val="C3C6D7"/>
                </a:solidFill>
                <a:latin typeface="Segoe UI"/>
              </a:rPr>
              <a:t>03 / 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00" b="0">
                <a:solidFill>
                  <a:srgbClr val="C3C6D7"/>
                </a:solidFill>
                <a:latin typeface="Segoe UI"/>
              </a:rPr>
              <a:t>23 typed, Pydantic-validated tools total. The LLM calls tools — it never runs SQL or decides feasibility itself.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1965960"/>
            <a:ext cx="5349240" cy="4343400"/>
          </a:xfrm>
          <a:prstGeom prst="roundRect">
            <a:avLst>
              <a:gd name="adj" fmla="val 4500"/>
            </a:avLst>
          </a:prstGeom>
          <a:solidFill>
            <a:srgbClr val="171F33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" y="222199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50" b="1">
                <a:solidFill>
                  <a:srgbClr val="B4C5FF"/>
                </a:solidFill>
                <a:latin typeface="Segoe UI"/>
              </a:rPr>
              <a:t>READ-ONLY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26791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300" b="1">
                <a:solidFill>
                  <a:srgbClr val="DAE2FD"/>
                </a:solidFill>
                <a:latin typeface="Segoe UI Semibold"/>
              </a:rPr>
              <a:t>Context tools — no mutation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15468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B4C5FF"/>
                </a:solidFill>
                <a:latin typeface="Consolas"/>
              </a:rPr>
              <a:t>get_driver_operational_context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44728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Full shipment / appointment / ETA snapshot for the driver.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758184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B4C5FF"/>
                </a:solidFill>
                <a:latin typeface="Consolas"/>
              </a:rPr>
              <a:t>list_active_shipments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0507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Active shipments in scope for the caller.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36168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B4C5FF"/>
                </a:solidFill>
                <a:latin typeface="Consolas"/>
              </a:rPr>
              <a:t>get_latest_eta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65429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Current ETA for a shipment.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965192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B4C5FF"/>
                </a:solidFill>
                <a:latin typeface="Consolas"/>
              </a:rPr>
              <a:t>get_current_appointment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25780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The driver's active dock appointment.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56869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B4C5FF"/>
                </a:solidFill>
                <a:latin typeface="Consolas"/>
              </a:rPr>
              <a:t>get_gate_and_queue_status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86130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Live gate and queue state at a facility.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91072" y="1965960"/>
            <a:ext cx="5349240" cy="4343400"/>
          </a:xfrm>
          <a:prstGeom prst="roundRect">
            <a:avLst>
              <a:gd name="adj" fmla="val 4500"/>
            </a:avLst>
          </a:prstGeom>
          <a:solidFill>
            <a:srgbClr val="171F33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65392" y="222199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162A24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50" b="1">
                <a:solidFill>
                  <a:srgbClr val="4EDEA3"/>
                </a:solidFill>
                <a:latin typeface="Segoe UI"/>
              </a:rPr>
              <a:t>WRITE — CONFIRM-GATED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5392" y="26791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300" b="1">
                <a:solidFill>
                  <a:srgbClr val="DAE2FD"/>
                </a:solidFill>
                <a:latin typeface="Segoe UI Semibold"/>
              </a:rPr>
              <a:t>Mutating tools — reach Postgres via services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5392" y="315468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4EDEA3"/>
                </a:solidFill>
                <a:latin typeface="Consolas"/>
              </a:rPr>
              <a:t>find_feasible_slots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5392" y="344728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Ranked, non-reserved options. Never invents a slot — empty result escalates.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392" y="3758184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4EDEA3"/>
                </a:solidFill>
                <a:latin typeface="Consolas"/>
              </a:rPr>
              <a:t>request_slot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65392" y="405079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Creates a booking in PENDING_CONFIRMATION only.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436168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4EDEA3"/>
                </a:solidFill>
                <a:latin typeface="Consolas"/>
              </a:rPr>
              <a:t>report_delay_or_update_eta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465429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Confirm-gated ETA write.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5392" y="4965192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4EDEA3"/>
                </a:solidFill>
                <a:latin typeface="Consolas"/>
              </a:rPr>
              <a:t>reschedule_appointment / cancel_appointment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65392" y="525780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Re-validates against live slot + dock state.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5392" y="556869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4EDEA3"/>
                </a:solidFill>
                <a:latin typeface="Consolas"/>
              </a:rPr>
              <a:t>escalate_exception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5392" y="586130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Durable escalation_queue row when nothing else fits.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19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19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19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19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59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59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24159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59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2144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2144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2144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2144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150" b="1">
                <a:solidFill>
                  <a:srgbClr val="4EDEA3"/>
                </a:solidFill>
                <a:latin typeface="Segoe UI"/>
              </a:rPr>
              <a:t>REQUEST 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3000" b="1">
                <a:solidFill>
                  <a:srgbClr val="DAE2FD"/>
                </a:solidFill>
                <a:latin typeface="Segoe UI Semibold"/>
              </a:rPr>
              <a:t>Scheduling architecture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1298448"/>
            <a:ext cx="11091672" cy="0"/>
          </a:xfrm>
          <a:prstGeom prst="line">
            <a:avLst/>
          </a:prstGeom>
          <a:ln w="12700">
            <a:solidFill>
              <a:srgbClr val="43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900" b="1">
                <a:solidFill>
                  <a:srgbClr val="C3C6D7"/>
                </a:solidFill>
                <a:latin typeface="Segoe UI"/>
              </a:rPr>
              <a:t>SETUHAUL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"/>
              </a:spcAft>
            </a:pPr>
            <a:r>
              <a:rPr sz="900" b="0">
                <a:solidFill>
                  <a:srgbClr val="C3C6D7"/>
                </a:solidFill>
                <a:latin typeface="Segoe UI"/>
              </a:rPr>
              <a:t>04 / 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783080"/>
            <a:ext cx="1965960" cy="932688"/>
          </a:xfrm>
          <a:prstGeom prst="roundRect">
            <a:avLst>
              <a:gd name="adj" fmla="val 12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1783080"/>
            <a:ext cx="1965960" cy="50800"/>
          </a:xfrm>
          <a:prstGeom prst="roundRect">
            <a:avLst>
              <a:gd name="adj" fmla="val 50000"/>
            </a:avLst>
          </a:prstGeom>
          <a:solidFill>
            <a:srgbClr val="4ED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1901952"/>
            <a:ext cx="1709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DAE2FD"/>
                </a:solidFill>
                <a:latin typeface="Segoe UI Semibold"/>
              </a:rPr>
              <a:t>React 19 chat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2212848"/>
            <a:ext cx="1709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Driver / ops UI</a:t>
            </a:r>
          </a:p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(Vercel)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79192" y="1783080"/>
            <a:ext cx="1965960" cy="932688"/>
          </a:xfrm>
          <a:prstGeom prst="roundRect">
            <a:avLst>
              <a:gd name="adj" fmla="val 12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79192" y="1783080"/>
            <a:ext cx="1965960" cy="50800"/>
          </a:xfrm>
          <a:prstGeom prst="roundRect">
            <a:avLst>
              <a:gd name="adj" fmla="val 50000"/>
            </a:avLst>
          </a:prstGeom>
          <a:solidFill>
            <a:srgbClr val="B4C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07208" y="1901952"/>
            <a:ext cx="1709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DAE2FD"/>
                </a:solidFill>
                <a:latin typeface="Segoe UI Semibold"/>
              </a:rPr>
              <a:t>FastAPI router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07208" y="2212848"/>
            <a:ext cx="1709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Thin router</a:t>
            </a:r>
          </a:p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(AWS ECS)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01184" y="1783080"/>
            <a:ext cx="1965960" cy="932688"/>
          </a:xfrm>
          <a:prstGeom prst="roundRect">
            <a:avLst>
              <a:gd name="adj" fmla="val 12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901184" y="1783080"/>
            <a:ext cx="1965960" cy="50800"/>
          </a:xfrm>
          <a:prstGeom prst="roundRect">
            <a:avLst>
              <a:gd name="adj" fmla="val 50000"/>
            </a:avLst>
          </a:prstGeom>
          <a:solidFill>
            <a:srgbClr val="B4C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1901952"/>
            <a:ext cx="1709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DAE2FD"/>
                </a:solidFill>
                <a:latin typeface="Segoe UI Semibold"/>
              </a:rPr>
              <a:t>Assistant 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2212848"/>
            <a:ext cx="1709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ChatOpenAI.bind_tools</a:t>
            </a:r>
          </a:p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(bounded, no agent fw)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23176" y="1783080"/>
            <a:ext cx="1965960" cy="932688"/>
          </a:xfrm>
          <a:prstGeom prst="roundRect">
            <a:avLst>
              <a:gd name="adj" fmla="val 12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123176" y="1783080"/>
            <a:ext cx="1965960" cy="50800"/>
          </a:xfrm>
          <a:prstGeom prst="roundRect">
            <a:avLst>
              <a:gd name="adj" fmla="val 50000"/>
            </a:avLst>
          </a:prstGeom>
          <a:solidFill>
            <a:srgbClr val="FFB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51192" y="1901952"/>
            <a:ext cx="1709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DAE2FD"/>
                </a:solidFill>
                <a:latin typeface="Segoe UI Semibold"/>
              </a:rPr>
              <a:t>Typed tool 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1192" y="2212848"/>
            <a:ext cx="170992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Pydantic-validated</a:t>
            </a:r>
          </a:p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StructuredTool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45168" y="1783080"/>
            <a:ext cx="2148840" cy="932688"/>
          </a:xfrm>
          <a:prstGeom prst="roundRect">
            <a:avLst>
              <a:gd name="adj" fmla="val 12000"/>
            </a:avLst>
          </a:prstGeom>
          <a:solidFill>
            <a:srgbClr val="222A3D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345168" y="1783080"/>
            <a:ext cx="2148840" cy="50800"/>
          </a:xfrm>
          <a:prstGeom prst="roundRect">
            <a:avLst>
              <a:gd name="adj" fmla="val 50000"/>
            </a:avLst>
          </a:prstGeom>
          <a:solidFill>
            <a:srgbClr val="4ED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73184" y="1901952"/>
            <a:ext cx="18928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250" b="1">
                <a:solidFill>
                  <a:srgbClr val="DAE2FD"/>
                </a:solidFill>
                <a:latin typeface="Segoe UI Semibold"/>
              </a:rPr>
              <a:t>PostgreSQL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73184" y="2212848"/>
            <a:ext cx="189280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Supabase — source</a:t>
            </a:r>
          </a:p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of truth (txn + lock)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423160" y="2249424"/>
            <a:ext cx="256032" cy="0"/>
          </a:xfrm>
          <a:prstGeom prst="line">
            <a:avLst/>
          </a:prstGeom>
          <a:ln w="15875">
            <a:solidFill>
              <a:srgbClr val="4346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645152" y="2249424"/>
            <a:ext cx="256032" cy="0"/>
          </a:xfrm>
          <a:prstGeom prst="line">
            <a:avLst/>
          </a:prstGeom>
          <a:ln w="15875">
            <a:solidFill>
              <a:srgbClr val="4346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867144" y="2249424"/>
            <a:ext cx="256032" cy="0"/>
          </a:xfrm>
          <a:prstGeom prst="line">
            <a:avLst/>
          </a:prstGeom>
          <a:ln w="15875">
            <a:solidFill>
              <a:srgbClr val="4346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89136" y="2249424"/>
            <a:ext cx="256032" cy="0"/>
          </a:xfrm>
          <a:prstGeom prst="line">
            <a:avLst/>
          </a:prstGeom>
          <a:ln w="15875">
            <a:solidFill>
              <a:srgbClr val="4346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457200" y="3218688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171F33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57200" y="3218688"/>
            <a:ext cx="1965960" cy="50800"/>
          </a:xfrm>
          <a:prstGeom prst="roundRect">
            <a:avLst>
              <a:gd name="adj" fmla="val 50000"/>
            </a:avLst>
          </a:prstGeom>
          <a:solidFill>
            <a:srgbClr val="B4C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5216" y="3337560"/>
            <a:ext cx="1709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150" b="1">
                <a:solidFill>
                  <a:srgbClr val="DAE2FD"/>
                </a:solidFill>
                <a:latin typeface="Segoe UI Semibold"/>
              </a:rPr>
              <a:t>Ops dashboard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216" y="3648456"/>
            <a:ext cx="17099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Dock / schedule view</a:t>
            </a:r>
          </a:p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— reads same</a:t>
            </a:r>
          </a:p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Postgres via REST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440180" y="2898648"/>
            <a:ext cx="0" cy="320040"/>
          </a:xfrm>
          <a:prstGeom prst="line">
            <a:avLst/>
          </a:prstGeom>
          <a:ln w="12700">
            <a:solidFill>
              <a:srgbClr val="4346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440180" y="2898648"/>
            <a:ext cx="8979408" cy="0"/>
          </a:xfrm>
          <a:prstGeom prst="line">
            <a:avLst/>
          </a:prstGeom>
          <a:ln w="12700">
            <a:solidFill>
              <a:srgbClr val="4346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419588" y="2715768"/>
            <a:ext cx="0" cy="182880"/>
          </a:xfrm>
          <a:prstGeom prst="line">
            <a:avLst/>
          </a:prstGeom>
          <a:ln w="12700">
            <a:solidFill>
              <a:srgbClr val="4346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4901184" y="3218688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171F33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901184" y="3218688"/>
            <a:ext cx="1965960" cy="50800"/>
          </a:xfrm>
          <a:prstGeom prst="roundRect">
            <a:avLst>
              <a:gd name="adj" fmla="val 50000"/>
            </a:avLst>
          </a:prstGeom>
          <a:solidFill>
            <a:srgbClr val="FFB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0" y="3337560"/>
            <a:ext cx="1709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150" b="1">
                <a:solidFill>
                  <a:srgbClr val="DAE2FD"/>
                </a:solidFill>
                <a:latin typeface="Segoe UI Semibold"/>
              </a:rPr>
              <a:t>Upstash Redis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0" y="3648456"/>
            <a:ext cx="17099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24h session memory</a:t>
            </a:r>
          </a:p>
          <a:p>
            <a:pPr algn="l">
              <a:lnSpc>
                <a:spcPct val="105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(non-authoritative)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884164" y="2715768"/>
            <a:ext cx="0" cy="502920"/>
          </a:xfrm>
          <a:prstGeom prst="line">
            <a:avLst/>
          </a:prstGeom>
          <a:ln w="12700">
            <a:solidFill>
              <a:srgbClr val="4346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7123176" y="3218688"/>
            <a:ext cx="4370832" cy="1143000"/>
          </a:xfrm>
          <a:prstGeom prst="roundRect">
            <a:avLst>
              <a:gd name="adj" fmla="val 8000"/>
            </a:avLst>
          </a:prstGeom>
          <a:solidFill>
            <a:srgbClr val="171F33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87768" y="3328416"/>
            <a:ext cx="4041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000" b="1">
                <a:solidFill>
                  <a:srgbClr val="FFB596"/>
                </a:solidFill>
                <a:latin typeface="Segoe UI"/>
              </a:rPr>
              <a:t>SCHEDULING SERVICES (deterministic, not LLM)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87768" y="3621024"/>
            <a:ext cx="40416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feasibility.py — ranks open, non-reserved slots against</a:t>
            </a:r>
          </a:p>
          <a:p>
            <a:pPr algn="l">
              <a:lnSpc>
                <a:spcPct val="120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hours / dock / vehicle / ETA / policy</a:t>
            </a:r>
          </a:p>
          <a:p>
            <a:pPr algn="l">
              <a:lnSpc>
                <a:spcPct val="120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allocation.py — locks + revalidates on write; a unique-</a:t>
            </a:r>
          </a:p>
          <a:p>
            <a:pPr algn="l">
              <a:lnSpc>
                <a:spcPct val="120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constraint clash → 409 with fresh options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106156" y="2715768"/>
            <a:ext cx="0" cy="502920"/>
          </a:xfrm>
          <a:prstGeom prst="line">
            <a:avLst/>
          </a:prstGeom>
          <a:ln w="12700">
            <a:solidFill>
              <a:srgbClr val="4346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1356848" y="2715768"/>
            <a:ext cx="0" cy="502920"/>
          </a:xfrm>
          <a:prstGeom prst="line">
            <a:avLst/>
          </a:prstGeom>
          <a:ln w="12700">
            <a:solidFill>
              <a:srgbClr val="4346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457200" y="4526280"/>
            <a:ext cx="11274552" cy="1234440"/>
          </a:xfrm>
          <a:prstGeom prst="roundRect">
            <a:avLst>
              <a:gd name="adj" fmla="val 8000"/>
            </a:avLst>
          </a:prstGeom>
          <a:solidFill>
            <a:srgbClr val="10182B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" y="4654296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050" b="1">
                <a:solidFill>
                  <a:srgbClr val="4EDEA3"/>
                </a:solidFill>
                <a:latin typeface="Segoe UI"/>
              </a:rPr>
              <a:t>GUARDRAILS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4946904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•  The LLM never runs SQL and never decides feasibility or priority — those rules live in scheduling services, not the prompt.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5202936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•  Writes only ever reach PENDING_CONFIRMATION; warehouse confirm/reject is Ops-only REST, never model-selectable.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45896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•  No feasible slots → a durable escalation_queue row, never an invented slot.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950" b="0">
                <a:solidFill>
                  <a:srgbClr val="C3C6D7"/>
                </a:solidFill>
                <a:latin typeface="Segoe UI"/>
              </a:rPr>
              <a:t>Dashed lines = read-only / async paths. Solid lines = the request path for a scheduling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19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19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19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19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24159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59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24159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59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21440" y="32004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21440" y="86868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21440" y="1417319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21440" y="1965960"/>
            <a:ext cx="27940" cy="27940"/>
          </a:xfrm>
          <a:prstGeom prst="ellipse">
            <a:avLst/>
          </a:prstGeom>
          <a:solidFill>
            <a:srgbClr val="2A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150" b="1">
                <a:solidFill>
                  <a:srgbClr val="4EDEA3"/>
                </a:solidFill>
                <a:latin typeface="Segoe UI"/>
              </a:rPr>
              <a:t>RUNTIME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3000" b="1">
                <a:solidFill>
                  <a:srgbClr val="DAE2FD"/>
                </a:solidFill>
                <a:latin typeface="Segoe UI Semibold"/>
              </a:rPr>
              <a:t>Tracking: LangSmith, AgentCore, CloudWatch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1298448"/>
            <a:ext cx="11091672" cy="0"/>
          </a:xfrm>
          <a:prstGeom prst="line">
            <a:avLst/>
          </a:prstGeom>
          <a:ln w="12700">
            <a:solidFill>
              <a:srgbClr val="434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900" b="1">
                <a:solidFill>
                  <a:srgbClr val="C3C6D7"/>
                </a:solidFill>
                <a:latin typeface="Segoe UI"/>
              </a:rPr>
              <a:t>SETUHAUL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5"/>
              </a:spcAft>
            </a:pPr>
            <a:r>
              <a:rPr sz="900" b="0">
                <a:solidFill>
                  <a:srgbClr val="C3C6D7"/>
                </a:solidFill>
                <a:latin typeface="Segoe UI"/>
              </a:rPr>
              <a:t>05 / 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160020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171F33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1600200"/>
            <a:ext cx="3520440" cy="50800"/>
          </a:xfrm>
          <a:prstGeom prst="roundRect">
            <a:avLst>
              <a:gd name="adj" fmla="val 50000"/>
            </a:avLst>
          </a:prstGeom>
          <a:solidFill>
            <a:srgbClr val="4EDE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1837944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800" b="1">
                <a:solidFill>
                  <a:srgbClr val="DAE2FD"/>
                </a:solidFill>
                <a:latin typeface="Segoe UI Semibold"/>
              </a:rPr>
              <a:t>LangSmith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" y="2313432"/>
            <a:ext cx="2779776" cy="329184"/>
          </a:xfrm>
          <a:prstGeom prst="roundRect">
            <a:avLst>
              <a:gd name="adj" fmla="val 50000"/>
            </a:avLst>
          </a:prstGeom>
          <a:solidFill>
            <a:srgbClr val="1B2E3B"/>
          </a:solidFill>
          <a:ln w="9525">
            <a:solidFill>
              <a:srgbClr val="4EDE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4EDEA3"/>
                </a:solidFill>
                <a:latin typeface="Segoe UI"/>
              </a:rPr>
              <a:t>Conversation + tool tracing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2898648"/>
            <a:ext cx="3008376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50">
                <a:solidFill>
                  <a:srgbClr val="C3C6D7"/>
                </a:solidFill>
                <a:latin typeface="Segoe UI"/>
              </a:rPr>
              <a:t>•  Every chat turn traced end to end (LANGSMITH_TRACING).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50">
                <a:solidFill>
                  <a:srgbClr val="C3C6D7"/>
                </a:solidFill>
                <a:latin typeface="Segoe UI"/>
              </a:rPr>
              <a:t>•  Runs organized under project setuhaul-agentcore.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50">
                <a:solidFill>
                  <a:srgbClr val="C3C6D7"/>
                </a:solidFill>
                <a:latin typeface="Segoe UI"/>
              </a:rPr>
              <a:t>•  Inputs sanitized automatically before export.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50">
                <a:solidFill>
                  <a:srgbClr val="C3C6D7"/>
                </a:solidFill>
                <a:latin typeface="Segoe UI"/>
              </a:rPr>
              <a:t>•  Full tool-call-level detail, request to response.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52544" y="160020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171F33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352544" y="1600200"/>
            <a:ext cx="3520440" cy="50800"/>
          </a:xfrm>
          <a:prstGeom prst="roundRect">
            <a:avLst>
              <a:gd name="adj" fmla="val 50000"/>
            </a:avLst>
          </a:prstGeom>
          <a:solidFill>
            <a:srgbClr val="B4C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08576" y="1837944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800" b="1">
                <a:solidFill>
                  <a:srgbClr val="DAE2FD"/>
                </a:solidFill>
                <a:latin typeface="Segoe UI Semibold"/>
              </a:rPr>
              <a:t>AWS AgentCore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08576" y="2313432"/>
            <a:ext cx="2414016" cy="329184"/>
          </a:xfrm>
          <a:prstGeom prst="roundRect">
            <a:avLst>
              <a:gd name="adj" fmla="val 50000"/>
            </a:avLst>
          </a:prstGeom>
          <a:solidFill>
            <a:srgbClr val="232C43"/>
          </a:solidFill>
          <a:ln w="9525">
            <a:solidFill>
              <a:srgbClr val="B4C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B4C5FF"/>
                </a:solidFill>
                <a:latin typeface="Segoe UI"/>
              </a:rPr>
              <a:t>Managed runtime hosting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8576" y="2898648"/>
            <a:ext cx="3008376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50">
                <a:solidFill>
                  <a:srgbClr val="C3C6D7"/>
                </a:solidFill>
                <a:latin typeface="Segoe UI"/>
              </a:rPr>
              <a:t>•  Assistant hosted as a Bedrock AgentCore Runtime (SetuHaulAgent).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50">
                <a:solidFill>
                  <a:srgbClr val="C3C6D7"/>
                </a:solidFill>
                <a:latin typeface="Segoe UI"/>
              </a:rPr>
              <a:t>•  Hosted BFF invokes it via a versioned runtime ARN.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50">
                <a:solidFill>
                  <a:srgbClr val="C3C6D7"/>
                </a:solidFill>
                <a:latin typeface="Segoe UI"/>
              </a:rPr>
              <a:t>•  ADOT 0.19 sidecar streams unified traces from the runtime.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50">
                <a:solidFill>
                  <a:srgbClr val="C3C6D7"/>
                </a:solidFill>
                <a:latin typeface="Segoe UI"/>
              </a:rPr>
              <a:t>•  Reproducible deploys via a staged, versioned code artifact.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56448" y="1600200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171F33"/>
          </a:solidFill>
          <a:ln w="9525">
            <a:solidFill>
              <a:srgbClr val="434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56448" y="1600200"/>
            <a:ext cx="3520440" cy="50800"/>
          </a:xfrm>
          <a:prstGeom prst="roundRect">
            <a:avLst>
              <a:gd name="adj" fmla="val 50000"/>
            </a:avLst>
          </a:prstGeom>
          <a:solidFill>
            <a:srgbClr val="FFB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1837944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800" b="1">
                <a:solidFill>
                  <a:srgbClr val="DAE2FD"/>
                </a:solidFill>
                <a:latin typeface="Segoe UI Semibold"/>
              </a:rPr>
              <a:t>CloudWatch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0" y="2313432"/>
            <a:ext cx="2962656" cy="329184"/>
          </a:xfrm>
          <a:prstGeom prst="roundRect">
            <a:avLst>
              <a:gd name="adj" fmla="val 50000"/>
            </a:avLst>
          </a:prstGeom>
          <a:solidFill>
            <a:srgbClr val="292B3A"/>
          </a:solidFill>
          <a:ln w="9525">
            <a:solidFill>
              <a:srgbClr val="FFB5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B596"/>
                </a:solidFill>
                <a:latin typeface="Segoe UI"/>
              </a:rPr>
              <a:t>Infra logs + platform metrics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898648"/>
            <a:ext cx="3008376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50">
                <a:solidFill>
                  <a:srgbClr val="C3C6D7"/>
                </a:solidFill>
                <a:latin typeface="Segoe UI"/>
              </a:rPr>
              <a:t>•  Every AgentCore invocation tracked via Transaction Search.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50">
                <a:solidFill>
                  <a:srgbClr val="C3C6D7"/>
                </a:solidFill>
                <a:latin typeface="Segoe UI"/>
              </a:rPr>
              <a:t>•  Centralized logs across ECS and AgentCore infrastructure.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50">
                <a:solidFill>
                  <a:srgbClr val="C3C6D7"/>
                </a:solidFill>
                <a:latin typeface="Segoe UI"/>
              </a:rPr>
              <a:t>•  Runtime health and invocation volume visible at a glance.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50">
                <a:solidFill>
                  <a:srgbClr val="C3C6D7"/>
                </a:solidFill>
                <a:latin typeface="Segoe UI"/>
              </a:rPr>
              <a:t>•  Pairs with LangSmith: infra signal here, conversation detail there.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"/>
              </a:spcAft>
            </a:pPr>
            <a:r>
              <a:rPr sz="1050" b="0">
                <a:solidFill>
                  <a:srgbClr val="C3C6D7"/>
                </a:solidFill>
                <a:latin typeface="Segoe UI"/>
              </a:rPr>
              <a:t>Every layer of the stack is observable: conversation and tool detail in LangSmith, managed runtime hosting in AgentCore, infra-wide metrics in CloudWatch.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